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0" y="5953760"/>
            <a:ext cx="1776730" cy="2324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9950"/>
            <a:ext cx="1778000" cy="57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70" y="6188710"/>
            <a:ext cx="1776730" cy="2324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84900"/>
            <a:ext cx="1778000" cy="57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70" y="6422390"/>
            <a:ext cx="1776730" cy="23241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70" y="6657340"/>
            <a:ext cx="1776730" cy="23113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70" y="6891020"/>
            <a:ext cx="1776730" cy="23240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889750"/>
            <a:ext cx="1778000" cy="57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070" y="7125970"/>
            <a:ext cx="1776730" cy="3632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67180" y="772160"/>
            <a:ext cx="4627880" cy="3517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2950">
                <a:solidFill>
                  <a:srgbClr val="1B3A6B"/>
                </a:solidFill>
                <a:latin typeface="CIDFont+F1"/>
              </a:rPr>
              <a:t>Pranjali haribhau salgude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580" y="1203960"/>
            <a:ext cx="356870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C8960C"/>
                </a:solidFill>
                <a:latin typeface="CIDFont+F1"/>
              </a:rPr>
              <a:t>BBA Graduate | HR(Human Resource) Specialisation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7170" y="1417320"/>
            <a:ext cx="183895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555555"/>
                </a:solidFill>
                <a:latin typeface="CIDFont+F3"/>
              </a:rPr>
              <a:t>📧</a:t>
            </a:r>
            <a:r>
              <a:rPr spc="-100" sz="950">
                <a:solidFill>
                  <a:srgbClr val="555555"/>
                </a:solidFill>
                <a:latin typeface="CIDFont+F2"/>
              </a:rPr>
              <a:t>pranjalisalgude5@gmail.com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2810" y="1418590"/>
            <a:ext cx="3301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555555"/>
                </a:solidFill>
                <a:latin typeface="CIDFont+F2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779" y="1403350"/>
            <a:ext cx="1172210" cy="1244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555555"/>
                </a:solidFill>
                <a:latin typeface="CIDFont+F3"/>
              </a:rPr>
              <a:t>📞</a:t>
            </a:r>
            <a:r>
              <a:rPr spc="-100" sz="950">
                <a:solidFill>
                  <a:srgbClr val="555555"/>
                </a:solidFill>
                <a:latin typeface="CIDFont+F2"/>
              </a:rPr>
              <a:t>+91-9579952050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2670" y="1418590"/>
            <a:ext cx="3301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555555"/>
                </a:solidFill>
                <a:latin typeface="CIDFont+F2"/>
              </a:rPr>
              <a:t>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370" y="1399540"/>
            <a:ext cx="128905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555555"/>
                </a:solidFill>
                <a:latin typeface="CIDFont+F3"/>
              </a:rPr>
              <a:t>📍</a:t>
            </a:r>
            <a:r>
              <a:rPr spc="-100" sz="950">
                <a:solidFill>
                  <a:srgbClr val="555555"/>
                </a:solidFill>
                <a:latin typeface="CIDFont+F2"/>
              </a:rPr>
              <a:t>Pune, Maharashtra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4470" y="1607820"/>
            <a:ext cx="2277110" cy="1181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1B3A6B"/>
                </a:solidFill>
                <a:latin typeface="CIDFont+F2"/>
              </a:rPr>
              <a:t>LinkedIn: linkedin.com/in/pranjalisalgude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190750"/>
            <a:ext cx="1709420" cy="1993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50">
                <a:solidFill>
                  <a:srgbClr val="C8960C"/>
                </a:solidFill>
                <a:latin typeface="CIDFont+F1"/>
              </a:rPr>
              <a:t>▌</a:t>
            </a:r>
            <a:r>
              <a:rPr spc="-100" b="1" sz="1150">
                <a:solidFill>
                  <a:srgbClr val="1B3A6B"/>
                </a:solidFill>
                <a:latin typeface="CIDFont+F1"/>
              </a:rPr>
              <a:t>CAREER OBJECTIVE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473960"/>
            <a:ext cx="576961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i="1" sz="950">
                <a:solidFill>
                  <a:srgbClr val="555555"/>
                </a:solidFill>
                <a:latin typeface="CIDFont+F4"/>
              </a:rPr>
              <a:t>Enthusiastic and result-oriented BBA graduate specialising in [HR] with a strong foundation in business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621280"/>
            <a:ext cx="624713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i="1" sz="950">
                <a:solidFill>
                  <a:srgbClr val="555555"/>
                </a:solidFill>
                <a:latin typeface="CIDFont+F4"/>
              </a:rPr>
              <a:t>management principles. Seeking an entry-level role in [Industry] where I can leverage my academic knowledge,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768600"/>
            <a:ext cx="4662170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i="1" sz="950">
                <a:solidFill>
                  <a:srgbClr val="555555"/>
                </a:solidFill>
                <a:latin typeface="CIDFont+F4"/>
              </a:rPr>
              <a:t>and interpersonal skills to drive organisational growth and build a rewarding career.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056890"/>
            <a:ext cx="1068070" cy="1993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50">
                <a:solidFill>
                  <a:srgbClr val="C8960C"/>
                </a:solidFill>
                <a:latin typeface="CIDFont+F1"/>
              </a:rPr>
              <a:t>▌</a:t>
            </a:r>
            <a:r>
              <a:rPr spc="-100" b="1" sz="1150">
                <a:solidFill>
                  <a:srgbClr val="1B3A6B"/>
                </a:solidFill>
                <a:latin typeface="CIDFont+F1"/>
              </a:rPr>
              <a:t>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150" y="3501390"/>
            <a:ext cx="261874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50">
                <a:solidFill>
                  <a:srgbClr val="000000"/>
                </a:solidFill>
                <a:latin typeface="CIDFont+F1"/>
              </a:rPr>
              <a:t>Bachelor of Business Administration (BBA)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8050" y="3498850"/>
            <a:ext cx="636270" cy="83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i="1" sz="850">
                <a:solidFill>
                  <a:srgbClr val="555555"/>
                </a:solidFill>
                <a:latin typeface="CIDFont+F4"/>
              </a:rPr>
              <a:t>2023 –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672840"/>
            <a:ext cx="3931920" cy="111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555555"/>
                </a:solidFill>
                <a:latin typeface="CIDFont+F2"/>
              </a:rPr>
              <a:t>Morden Collage of Commerce and Computer Studies, Pune, Maharashtra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820" y="3874770"/>
            <a:ext cx="524510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555555"/>
                </a:solidFill>
                <a:latin typeface="CIDFont+F2"/>
              </a:rPr>
              <a:t>| SPPU |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150" y="4077970"/>
            <a:ext cx="352552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50">
                <a:solidFill>
                  <a:srgbClr val="000000"/>
                </a:solidFill>
                <a:latin typeface="CIDFont+F1"/>
              </a:rPr>
              <a:t>Senior Secondary (Class XII) – Commerce with Economics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9050" y="4075429"/>
            <a:ext cx="255270" cy="83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i="1" sz="850">
                <a:solidFill>
                  <a:srgbClr val="555555"/>
                </a:solidFill>
                <a:latin typeface="CIDFont+F4"/>
              </a:rPr>
              <a:t>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820" y="4248150"/>
            <a:ext cx="5294630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555555"/>
                </a:solidFill>
                <a:latin typeface="CIDFont+F2"/>
              </a:rPr>
              <a:t>Late Nagnath Gadsing (Guruji) Junior college, krushnanagar, chikhali, Pune | Board: SSC Board |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450080"/>
            <a:ext cx="923290" cy="111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555555"/>
                </a:solidFill>
                <a:latin typeface="CIDFont+F2"/>
              </a:rPr>
              <a:t>Percentage: 57%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150" y="4653280"/>
            <a:ext cx="122428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50">
                <a:solidFill>
                  <a:srgbClr val="000000"/>
                </a:solidFill>
                <a:latin typeface="CIDFont+F1"/>
              </a:rPr>
              <a:t>Secondary (Class X)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9050" y="4652010"/>
            <a:ext cx="255270" cy="82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i="1" sz="850">
                <a:solidFill>
                  <a:srgbClr val="555555"/>
                </a:solidFill>
                <a:latin typeface="CIDFont+F4"/>
              </a:rPr>
              <a:t>2021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824730"/>
            <a:ext cx="4851400" cy="113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555555"/>
                </a:solidFill>
                <a:latin typeface="CIDFont+F2"/>
              </a:rPr>
              <a:t>Mrs. sheshabai devrao gange school, krushnanager, chikhali , Pune | Board: HSC Board |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025390"/>
            <a:ext cx="923290" cy="113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555555"/>
                </a:solidFill>
                <a:latin typeface="CIDFont+F2"/>
              </a:rPr>
              <a:t>Percentage: 72%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534660"/>
            <a:ext cx="2599690" cy="1993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50">
                <a:solidFill>
                  <a:srgbClr val="C8960C"/>
                </a:solidFill>
                <a:latin typeface="CIDFont+F1"/>
              </a:rPr>
              <a:t>▌</a:t>
            </a:r>
            <a:r>
              <a:rPr spc="-100" b="1" sz="1150">
                <a:solidFill>
                  <a:srgbClr val="1B3A6B"/>
                </a:solidFill>
                <a:latin typeface="CIDFont+F1"/>
              </a:rPr>
              <a:t>CORE COMPETENCIES &amp; SKILLS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85800" y="5953760"/>
          <a:ext cx="5943600" cy="15300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6730"/>
                <a:gridCol w="4166870"/>
              </a:tblGrid>
              <a:tr h="219710"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marL="76200" algn="l">
                        <a:lnSpc>
                          <a:spcPts val="660"/>
                        </a:lnSpc>
                      </a:pPr>
                      <a:r>
                        <a:rPr spc="-100" b="1" sz="850">
                          <a:solidFill>
                            <a:srgbClr val="1B3A6B"/>
                          </a:solidFill>
                          <a:latin typeface="CIDFont+F1"/>
                        </a:rPr>
                        <a:t>Business Skills</a:t>
                      </a:r>
                    </a:p>
                  </a:txBody>
                  <a:tcPr marL="0" marR="0" marT="0" marB="0" vert="horz">
                    <a:lnL w="317" cap="flat" cmpd="sng" algn="ctr">
                      <a:solidFill>
                        <a:srgbClr val="cccccc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marL="77470" algn="l">
                        <a:lnSpc>
                          <a:spcPts val="840"/>
                        </a:lnSpc>
                      </a:pPr>
                      <a:r>
                        <a:rPr spc="-100" sz="850">
                          <a:solidFill>
                            <a:srgbClr val="000000"/>
                          </a:solidFill>
                          <a:latin typeface="CIDFont+F2"/>
                        </a:rPr>
                        <a:t>Business Communication, Strategic Planning,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317" cap="flat" cmpd="sng" algn="ctr">
                      <a:solidFill>
                        <a:srgbClr val="cccccc">
                          <a:alpha val="100000"/>
                        </a:srgbClr>
                      </a:solidFill>
                    </a:lnR>
                    <a:lnT w="317" cap="flat" cmpd="sng" algn="ctr">
                      <a:solidFill>
                        <a:srgbClr val="cccccc">
                          <a:alpha val="100000"/>
                        </a:srgbClr>
                      </a:solidFill>
                    </a:lnT>
                    <a:lnB w="317" cap="flat" cmpd="sng" algn="ctr">
                      <a:solidFill>
                        <a:srgbClr val="cccccc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76200" algn="l">
                        <a:lnSpc>
                          <a:spcPts val="660"/>
                        </a:lnSpc>
                      </a:pPr>
                      <a:r>
                        <a:rPr spc="-100" b="1" sz="850">
                          <a:solidFill>
                            <a:srgbClr val="1B3A6B"/>
                          </a:solidFill>
                          <a:latin typeface="CIDFont+F1"/>
                        </a:rPr>
                        <a:t>Finance</a:t>
                      </a:r>
                    </a:p>
                  </a:txBody>
                  <a:tcPr marL="0" marR="0" marT="0" marB="0" vert="horz">
                    <a:lnL w="317" cap="flat" cmpd="sng" algn="ctr">
                      <a:solidFill>
                        <a:srgbClr val="cccccc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-100" sz="850">
                          <a:solidFill>
                            <a:srgbClr val="000000"/>
                          </a:solidFill>
                          <a:latin typeface="CIDFont+F2"/>
                        </a:rPr>
                        <a:t>Tally ERP, MS Excel (Pivot, VLOOKUP)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317" cap="flat" cmpd="sng" algn="ctr">
                      <a:solidFill>
                        <a:srgbClr val="cccccc">
                          <a:alpha val="100000"/>
                        </a:srgbClr>
                      </a:solidFill>
                    </a:lnR>
                    <a:lnT w="317" cap="flat" cmpd="sng" algn="ctr">
                      <a:solidFill>
                        <a:srgbClr val="cccccc">
                          <a:alpha val="100000"/>
                        </a:srgbClr>
                      </a:solidFill>
                    </a:lnT>
                    <a:lnB w="317" cap="flat" cmpd="sng" algn="ctr">
                      <a:solidFill>
                        <a:srgbClr val="cccccc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34314"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76200" algn="l">
                        <a:lnSpc>
                          <a:spcPts val="830"/>
                        </a:lnSpc>
                      </a:pPr>
                      <a:r>
                        <a:rPr spc="-100" b="1" sz="850">
                          <a:solidFill>
                            <a:srgbClr val="1B3A6B"/>
                          </a:solidFill>
                          <a:latin typeface="CIDFont+F1"/>
                        </a:rPr>
                        <a:t>Marketing</a:t>
                      </a:r>
                    </a:p>
                  </a:txBody>
                  <a:tcPr marL="0" marR="0" marT="0" marB="0" vert="horz">
                    <a:lnL w="317" cap="flat" cmpd="sng" algn="ctr">
                      <a:solidFill>
                        <a:srgbClr val="cccccc">
                          <a:alpha val="100000"/>
                        </a:srgbClr>
                      </a:solidFill>
                    </a:lnL>
                    <a:lnR w="317" cap="flat" cmpd="sng" algn="ctr">
                      <a:solidFill>
                        <a:srgbClr val="cccccc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382" cap="flat" cmpd="sng" algn="ctr">
                      <a:solidFill>
                        <a:srgbClr val="edf2f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7470" algn="l">
                        <a:lnSpc>
                          <a:spcPts val="840"/>
                        </a:lnSpc>
                      </a:pPr>
                      <a:r>
                        <a:rPr spc="-100" sz="850">
                          <a:solidFill>
                            <a:srgbClr val="000000"/>
                          </a:solidFill>
                          <a:latin typeface="CIDFont+F2"/>
                        </a:rPr>
                        <a:t>Digital Marketing, Social Media Management,</a:t>
                      </a:r>
                    </a:p>
                  </a:txBody>
                  <a:tcPr marL="0" marR="0" marT="0" marB="0" vert="horz">
                    <a:lnL w="317" cap="flat" cmpd="sng" algn="ctr">
                      <a:solidFill>
                        <a:srgbClr val="cccccc">
                          <a:alpha val="100000"/>
                        </a:srgbClr>
                      </a:solidFill>
                    </a:lnL>
                    <a:lnR w="317" cap="flat" cmpd="sng" algn="ctr">
                      <a:solidFill>
                        <a:srgbClr val="cccccc">
                          <a:alpha val="100000"/>
                        </a:srgbClr>
                      </a:solidFill>
                    </a:lnR>
                    <a:lnT w="317" cap="flat" cmpd="sng" algn="ctr">
                      <a:solidFill>
                        <a:srgbClr val="cccccc">
                          <a:alpha val="100000"/>
                        </a:srgbClr>
                      </a:solidFill>
                    </a:lnT>
                    <a:lnB w="635" cap="flat" cmpd="sng" algn="ctr">
                      <a:solidFill>
                        <a:srgbClr val="cccccc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6200" algn="l">
                        <a:lnSpc>
                          <a:spcPts val="840"/>
                        </a:lnSpc>
                      </a:pPr>
                      <a:r>
                        <a:rPr spc="-100" b="1" sz="850">
                          <a:solidFill>
                            <a:srgbClr val="1B3A6B"/>
                          </a:solidFill>
                          <a:latin typeface="CIDFont+F1"/>
                        </a:rPr>
                        <a:t>HR &amp; Management</a:t>
                      </a:r>
                    </a:p>
                  </a:txBody>
                  <a:tcPr marL="0" marR="0" marT="0" marB="0" vert="horz">
                    <a:lnL w="317" cap="flat" cmpd="sng" algn="ctr">
                      <a:solidFill>
                        <a:srgbClr val="cccccc">
                          <a:alpha val="100000"/>
                        </a:srgbClr>
                      </a:solidFill>
                    </a:lnL>
                    <a:lnR w="317" cap="flat" cmpd="sng" algn="ctr">
                      <a:solidFill>
                        <a:srgbClr val="cccccc">
                          <a:alpha val="100000"/>
                        </a:srgbClr>
                      </a:solidFill>
                    </a:lnR>
                    <a:lnT w="12382" cap="flat" cmpd="sng" algn="ctr">
                      <a:solidFill>
                        <a:srgbClr val="edf2f8">
                          <a:alpha val="100000"/>
                        </a:srgbClr>
                      </a:solidFill>
                    </a:lnT>
                    <a:lnB w="12382" cap="flat" cmpd="sng" algn="ctr">
                      <a:solidFill>
                        <a:srgbClr val="edf2f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77470" algn="l">
                        <a:lnSpc>
                          <a:spcPts val="819"/>
                        </a:lnSpc>
                      </a:pPr>
                      <a:r>
                        <a:rPr spc="-100" sz="850">
                          <a:solidFill>
                            <a:srgbClr val="000000"/>
                          </a:solidFill>
                          <a:latin typeface="CIDFont+F2"/>
                        </a:rPr>
                        <a:t>Recruitment Basics, Team Leadership,</a:t>
                      </a:r>
                    </a:p>
                  </a:txBody>
                  <a:tcPr marL="0" marR="0" marT="0" marB="0" vert="horz">
                    <a:lnL w="317" cap="flat" cmpd="sng" algn="ctr">
                      <a:solidFill>
                        <a:srgbClr val="cccccc">
                          <a:alpha val="100000"/>
                        </a:srgbClr>
                      </a:solidFill>
                    </a:lnL>
                    <a:lnR w="317" cap="flat" cmpd="sng" algn="ctr">
                      <a:solidFill>
                        <a:srgbClr val="cccccc">
                          <a:alpha val="100000"/>
                        </a:srgbClr>
                      </a:solidFill>
                    </a:lnR>
                    <a:lnT w="635" cap="flat" cmpd="sng" algn="ctr">
                      <a:solidFill>
                        <a:srgbClr val="cccccc">
                          <a:alpha val="100000"/>
                        </a:srgbClr>
                      </a:solidFill>
                    </a:lnT>
                    <a:lnB w="317" cap="flat" cmpd="sng" algn="ctr">
                      <a:solidFill>
                        <a:srgbClr val="cccccc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6200" algn="l">
                        <a:lnSpc>
                          <a:spcPts val="670"/>
                        </a:lnSpc>
                      </a:pPr>
                      <a:r>
                        <a:rPr spc="-100" b="1" sz="850">
                          <a:solidFill>
                            <a:srgbClr val="1B3A6B"/>
                          </a:solidFill>
                          <a:latin typeface="CIDFont+F1"/>
                        </a:rPr>
                        <a:t>IT &amp; Tools</a:t>
                      </a:r>
                    </a:p>
                  </a:txBody>
                  <a:tcPr marL="0" marR="0" marT="0" marB="0" vert="horz">
                    <a:lnL w="317" cap="flat" cmpd="sng" algn="ctr">
                      <a:solidFill>
                        <a:srgbClr val="cccccc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382" cap="flat" cmpd="sng" algn="ctr">
                      <a:solidFill>
                        <a:srgbClr val="edf2f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77470" algn="l">
                        <a:lnSpc>
                          <a:spcPts val="840"/>
                        </a:lnSpc>
                      </a:pPr>
                      <a:r>
                        <a:rPr spc="-100" sz="850">
                          <a:solidFill>
                            <a:srgbClr val="000000"/>
                          </a:solidFill>
                          <a:latin typeface="CIDFont+F2"/>
                        </a:rPr>
                        <a:t>MS Office Suite (Word, Excel, PowerPoint),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317" cap="flat" cmpd="sng" algn="ctr">
                      <a:solidFill>
                        <a:srgbClr val="cccccc">
                          <a:alpha val="100000"/>
                        </a:srgbClr>
                      </a:solidFill>
                    </a:lnR>
                    <a:lnT w="317" cap="flat" cmpd="sng" algn="ctr">
                      <a:solidFill>
                        <a:srgbClr val="cccccc">
                          <a:alpha val="100000"/>
                        </a:srgbClr>
                      </a:solidFill>
                    </a:lnT>
                    <a:lnB w="317" cap="flat" cmpd="sng" algn="ctr">
                      <a:solidFill>
                        <a:srgbClr val="cccccc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72427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6200" algn="l">
                        <a:lnSpc>
                          <a:spcPts val="670"/>
                        </a:lnSpc>
                      </a:pPr>
                      <a:r>
                        <a:rPr spc="-100" b="1" sz="850">
                          <a:solidFill>
                            <a:srgbClr val="1B3A6B"/>
                          </a:solidFill>
                          <a:latin typeface="CIDFont+F1"/>
                        </a:rPr>
                        <a:t>Soft Skills</a:t>
                      </a:r>
                    </a:p>
                  </a:txBody>
                  <a:tcPr marL="0" marR="0" marT="0" marB="0" vert="horz">
                    <a:lnL w="317" cap="flat" cmpd="sng" algn="ctr">
                      <a:solidFill>
                        <a:srgbClr val="cccccc">
                          <a:alpha val="100000"/>
                        </a:srgbClr>
                      </a:solidFill>
                    </a:lnL>
                    <a:lnR w="317" cap="flat" cmpd="sng" algn="ctr">
                      <a:solidFill>
                        <a:srgbClr val="cccccc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77470" algn="l">
                        <a:lnSpc>
                          <a:spcPts val="1030"/>
                        </a:lnSpc>
                      </a:pPr>
                      <a:r>
                        <a:rPr spc="-100" sz="850">
                          <a:solidFill>
                            <a:srgbClr val="000000"/>
                          </a:solidFill>
                          <a:latin typeface="CIDFont+F2"/>
                        </a:rPr>
                        <a:t>Communication, Analytical Thinking, Negotiation, Adaptability, Time </a:t>
                      </a:r>
                      <a:br/>
                      <a:r>
                        <a:rPr spc="-100" sz="850">
                          <a:solidFill>
                            <a:srgbClr val="000000"/>
                          </a:solidFill>
                          <a:latin typeface="CIDFont+F2"/>
                        </a:rPr>
                        <a:t>Management</a:t>
                      </a:r>
                    </a:p>
                  </a:txBody>
                  <a:tcPr marL="0" marR="0" marT="0" marB="0" vert="horz">
                    <a:lnL w="317" cap="flat" cmpd="sng" algn="ctr">
                      <a:solidFill>
                        <a:srgbClr val="cccccc">
                          <a:alpha val="100000"/>
                        </a:srgbClr>
                      </a:solidFill>
                    </a:lnL>
                    <a:lnR w="317" cap="flat" cmpd="sng" algn="ctr">
                      <a:solidFill>
                        <a:srgbClr val="cccccc">
                          <a:alpha val="100000"/>
                        </a:srgbClr>
                      </a:solidFill>
                    </a:lnR>
                    <a:lnT w="317" cap="flat" cmpd="sng" algn="ctr">
                      <a:solidFill>
                        <a:srgbClr val="cccccc">
                          <a:alpha val="100000"/>
                        </a:srgbClr>
                      </a:solidFill>
                    </a:lnT>
                    <a:lnB w="317" cap="flat" cmpd="sng" algn="ctr">
                      <a:solidFill>
                        <a:srgbClr val="cccccc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85800" y="8305800"/>
            <a:ext cx="1846580" cy="199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50">
                <a:solidFill>
                  <a:srgbClr val="C8960C"/>
                </a:solidFill>
                <a:latin typeface="CIDFont+F1"/>
              </a:rPr>
              <a:t>▌</a:t>
            </a:r>
            <a:r>
              <a:rPr spc="-100" b="1" sz="1150">
                <a:solidFill>
                  <a:srgbClr val="1B3A6B"/>
                </a:solidFill>
                <a:latin typeface="CIDFont+F1"/>
              </a:rPr>
              <a:t>ACADEMIC PROJECTS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8587740"/>
            <a:ext cx="455930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0000"/>
                </a:solidFill>
                <a:latin typeface="CIDFont+F1"/>
              </a:rPr>
              <a:t>The Relationship Between Performance Appraisals and Employee Development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150" y="8728710"/>
            <a:ext cx="107823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50">
                <a:solidFill>
                  <a:srgbClr val="000000"/>
                </a:solidFill>
                <a:latin typeface="CIDFont+F1"/>
              </a:rPr>
              <a:t>-Research Project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14670" y="8726170"/>
            <a:ext cx="1008379" cy="1066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i="1" sz="850">
                <a:solidFill>
                  <a:srgbClr val="555555"/>
                </a:solidFill>
                <a:latin typeface="CIDFont+F4"/>
              </a:rPr>
              <a:t>Semester V |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8909050"/>
            <a:ext cx="631190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C8960C"/>
                </a:solidFill>
                <a:latin typeface="CIDFont+F5"/>
              </a:rPr>
              <a:t>◆</a:t>
            </a:r>
            <a:r>
              <a:rPr spc="-100" sz="950">
                <a:solidFill>
                  <a:srgbClr val="000000"/>
                </a:solidFill>
                <a:latin typeface="CIDFont+F2"/>
              </a:rPr>
              <a:t>Conducted primary research through structured questionnaires with 50+ respondents to study Implementation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9055100"/>
            <a:ext cx="249682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CIDFont+F2"/>
              </a:rPr>
              <a:t>of Employee Development and Performance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9236710"/>
            <a:ext cx="5820409" cy="1181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C8960C"/>
                </a:solidFill>
                <a:latin typeface="CIDFont+F5"/>
              </a:rPr>
              <a:t>◆</a:t>
            </a:r>
            <a:r>
              <a:rPr spc="-100" sz="950">
                <a:solidFill>
                  <a:srgbClr val="000000"/>
                </a:solidFill>
                <a:latin typeface="CIDFont+F2"/>
              </a:rPr>
              <a:t>Analysed data using MS Excel and presented findings with charts and pivot tables; received A grade.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" y="2001520"/>
            <a:ext cx="6436359" cy="1778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020" y="2376170"/>
            <a:ext cx="6436359" cy="889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020" y="3243580"/>
            <a:ext cx="6436359" cy="889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020" y="5720080"/>
            <a:ext cx="6436359" cy="889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6135370"/>
            <a:ext cx="1778000" cy="508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2530" y="6004560"/>
            <a:ext cx="1269" cy="18161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6370320"/>
            <a:ext cx="1778000" cy="508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2530" y="6238240"/>
            <a:ext cx="1269" cy="18288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19850"/>
            <a:ext cx="1778000" cy="5715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654800"/>
            <a:ext cx="1778000" cy="5715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7072630"/>
            <a:ext cx="1778000" cy="508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2530" y="6941820"/>
            <a:ext cx="1269" cy="181609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7118350"/>
            <a:ext cx="1778000" cy="5715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020" y="8489950"/>
            <a:ext cx="6436359" cy="8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17269"/>
            <a:ext cx="1441450" cy="199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50">
                <a:solidFill>
                  <a:srgbClr val="C8960C"/>
                </a:solidFill>
                <a:latin typeface="CIDFont+F1"/>
              </a:rPr>
              <a:t>▌</a:t>
            </a:r>
            <a:r>
              <a:rPr spc="-100" b="1" sz="1150">
                <a:solidFill>
                  <a:srgbClr val="1B3A6B"/>
                </a:solidFill>
                <a:latin typeface="CIDFont+F1"/>
              </a:rPr>
              <a:t>CERTIFICATIONS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83360"/>
            <a:ext cx="396367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C8960C"/>
                </a:solidFill>
                <a:latin typeface="CIDFont+F5"/>
              </a:rPr>
              <a:t>◆</a:t>
            </a:r>
            <a:r>
              <a:rPr spc="-100" sz="950">
                <a:solidFill>
                  <a:srgbClr val="000000"/>
                </a:solidFill>
                <a:latin typeface="CIDFont+F2"/>
              </a:rPr>
              <a:t>Financial Markets – National Institute of Securities Markets ( NISM 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6150" y="1483360"/>
            <a:ext cx="36576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CIDFont+F2"/>
              </a:rPr>
              <a:t>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56790"/>
            <a:ext cx="1769110" cy="199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50">
                <a:solidFill>
                  <a:srgbClr val="C8960C"/>
                </a:solidFill>
                <a:latin typeface="CIDFont+F1"/>
              </a:rPr>
              <a:t>▌</a:t>
            </a:r>
            <a:r>
              <a:rPr spc="-100" b="1" sz="1150">
                <a:solidFill>
                  <a:srgbClr val="1B3A6B"/>
                </a:solidFill>
                <a:latin typeface="CIDFont+F1"/>
              </a:rPr>
              <a:t>LANGUAGES KNOWN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41270"/>
            <a:ext cx="88773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CIDFont+F2"/>
              </a:rPr>
              <a:t>English (Fluent)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1480" y="2541270"/>
            <a:ext cx="3175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CIDFont+F2"/>
              </a:rPr>
              <a:t>|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7370" y="2541270"/>
            <a:ext cx="76835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CIDFont+F2"/>
              </a:rPr>
              <a:t>Hindi (Native)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3670" y="2541270"/>
            <a:ext cx="3301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CIDFont+F2"/>
              </a:rPr>
              <a:t>|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2100" y="2541270"/>
            <a:ext cx="107061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CIDFont+F2"/>
              </a:rPr>
              <a:t>Marathi (Proficient)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0660" y="2541270"/>
            <a:ext cx="3301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CIDFont+F2"/>
              </a:rP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30830"/>
            <a:ext cx="1701800" cy="1993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50">
                <a:solidFill>
                  <a:srgbClr val="C8960C"/>
                </a:solidFill>
                <a:latin typeface="CIDFont+F1"/>
              </a:rPr>
              <a:t>▌</a:t>
            </a:r>
            <a:r>
              <a:rPr spc="-100" b="1" sz="1150">
                <a:solidFill>
                  <a:srgbClr val="1B3A6B"/>
                </a:solidFill>
                <a:latin typeface="CIDFont+F1"/>
              </a:rPr>
              <a:t>PERSONAL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150" y="3274060"/>
            <a:ext cx="1659889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0000"/>
                </a:solidFill>
                <a:latin typeface="CIDFont+F1"/>
              </a:rPr>
              <a:t>Date of Birth:</a:t>
            </a:r>
            <a:r>
              <a:rPr spc="-100" sz="900">
                <a:solidFill>
                  <a:srgbClr val="000000"/>
                </a:solidFill>
                <a:latin typeface="CIDFont+F2"/>
              </a:rPr>
              <a:t> 04 august 2005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3950" y="3274060"/>
            <a:ext cx="1233170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0000"/>
                </a:solidFill>
                <a:latin typeface="CIDFont+F1"/>
              </a:rPr>
              <a:t>Marital Status:</a:t>
            </a:r>
            <a:r>
              <a:rPr spc="-100" sz="900">
                <a:solidFill>
                  <a:srgbClr val="000000"/>
                </a:solidFill>
                <a:latin typeface="CIDFont+F2"/>
              </a:rPr>
              <a:t> Single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150" y="3453129"/>
            <a:ext cx="1050289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0000"/>
                </a:solidFill>
                <a:latin typeface="CIDFont+F1"/>
              </a:rPr>
              <a:t>Nationality:</a:t>
            </a:r>
            <a:r>
              <a:rPr spc="-100" sz="900">
                <a:solidFill>
                  <a:srgbClr val="000000"/>
                </a:solidFill>
                <a:latin typeface="CIDFont+F2"/>
              </a:rPr>
              <a:t> Indian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3950" y="3453129"/>
            <a:ext cx="2105660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0000"/>
                </a:solidFill>
                <a:latin typeface="CIDFont+F1"/>
              </a:rPr>
              <a:t>Hobbies:</a:t>
            </a:r>
            <a:r>
              <a:rPr spc="-100" sz="900">
                <a:solidFill>
                  <a:srgbClr val="000000"/>
                </a:solidFill>
                <a:latin typeface="CIDFont+F2"/>
              </a:rPr>
              <a:t> Reading, Travelling, cooking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150" y="3628390"/>
            <a:ext cx="930910" cy="88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0000"/>
                </a:solidFill>
                <a:latin typeface="CIDFont+F1"/>
              </a:rPr>
              <a:t>Gender:</a:t>
            </a:r>
            <a:r>
              <a:rPr spc="-100" sz="900">
                <a:solidFill>
                  <a:srgbClr val="000000"/>
                </a:solidFill>
                <a:latin typeface="CIDFont+F2"/>
              </a:rPr>
              <a:t> Female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10990"/>
            <a:ext cx="1271270" cy="1993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50">
                <a:solidFill>
                  <a:srgbClr val="C8960C"/>
                </a:solidFill>
                <a:latin typeface="CIDFont+F1"/>
              </a:rPr>
              <a:t>▌</a:t>
            </a:r>
            <a:r>
              <a:rPr spc="-100" b="1" sz="1150">
                <a:solidFill>
                  <a:srgbClr val="1B3A6B"/>
                </a:solidFill>
                <a:latin typeface="CIDFont+F1"/>
              </a:rPr>
              <a:t>DECLARATION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94200"/>
            <a:ext cx="638048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i="1" sz="950">
                <a:solidFill>
                  <a:srgbClr val="555555"/>
                </a:solidFill>
                <a:latin typeface="CIDFont+F4"/>
              </a:rPr>
              <a:t>I hereby declare that all the information provided above is true and correct to the best of my knowledge and belief.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41520"/>
            <a:ext cx="219964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i="1" sz="950">
                <a:solidFill>
                  <a:srgbClr val="555555"/>
                </a:solidFill>
                <a:latin typeface="CIDFont+F4"/>
              </a:rPr>
              <a:t>I take full responsibility for its accuracy.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150" y="4777740"/>
            <a:ext cx="144526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CIDFont+F2"/>
              </a:rPr>
              <a:t>Place: _______________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700" y="4813300"/>
            <a:ext cx="165607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50">
                <a:solidFill>
                  <a:srgbClr val="1B3A6B"/>
                </a:solidFill>
                <a:latin typeface="CIDFont+F1"/>
              </a:rPr>
              <a:t>(Pranjali Haribhau Salgude)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150" y="4961890"/>
            <a:ext cx="1431289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CIDFont+F2"/>
              </a:rPr>
              <a:t>Date: _______________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0" y="1202690"/>
            <a:ext cx="6436359" cy="889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0" y="2443480"/>
            <a:ext cx="6436359" cy="8889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0" y="3016250"/>
            <a:ext cx="6436359" cy="8889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" y="4296410"/>
            <a:ext cx="6436359" cy="8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